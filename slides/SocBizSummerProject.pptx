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15"/>
  </p:notesMasterIdLst>
  <p:handoutMasterIdLst>
    <p:handoutMasterId r:id="rId16"/>
  </p:handoutMasterIdLst>
  <p:sldIdLst>
    <p:sldId id="258" r:id="rId5"/>
    <p:sldId id="259" r:id="rId6"/>
    <p:sldId id="260" r:id="rId7"/>
    <p:sldId id="266" r:id="rId8"/>
    <p:sldId id="267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30"/>
  </p:normalViewPr>
  <p:slideViewPr>
    <p:cSldViewPr showGuides="1">
      <p:cViewPr varScale="1">
        <p:scale>
          <a:sx n="90" d="100"/>
          <a:sy n="90" d="100"/>
        </p:scale>
        <p:origin x="355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445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24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244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6/6/2026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AC2C24E-B95E-481D-968E-0BDCFC72F656}" type="datetime1">
              <a:rPr lang="en-US" smtClean="0"/>
              <a:t>6/6/2026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6/6/2026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6/6/2026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1415DC98-F527-4737-A5B9-3597210FA2F7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188889-44B4-42BD-84DC-2D1A93FD44C7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6/6/2026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EB29E-E91D-4BC9-BE3F-394F6FDC9AC7}" type="datetime1">
              <a:rPr lang="en-US" smtClean="0"/>
              <a:t>6/6/2026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AD7DA-2107-4637-8C8D-3B775970879B}" type="datetime1">
              <a:rPr lang="en-US" smtClean="0"/>
              <a:t>6/6/2026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6/6/2026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597AFA7-1C4B-4AAF-9FD8-61D1DA4C999A}" type="datetime1">
              <a:rPr lang="en-US" smtClean="0"/>
              <a:t>6/6/2026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5F7DF4-8BE0-4832-9230-78DDDEC4B6DD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C1166B1E-1AFA-4A7F-9646-409FBAA0A887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6/6/2026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6/6/2026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AA28231D-ABE1-4859-B037-5D42FA8F4858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6/6/2026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6/6/2026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6/6/2026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6/6/2026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6/6/2026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6/6/2026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B608D6C-D0F1-479F-911E-8569D2F1ED15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BCFCC67-CBC1-48BE-A467-33E284003C9C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8CAF44C-1683-44E3-97C5-DF51C69BF7AA}" type="datetime1">
              <a:rPr lang="en-US" smtClean="0"/>
              <a:t>6/6/2026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6/6/2026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0C8FE45-F91B-4375-B362-4DC6F9A2A304}" type="datetime1">
              <a:rPr lang="en-US" smtClean="0"/>
              <a:t>6/6/2026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6/6/2026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6/6/2026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95FFA61-E651-4E50-A159-710A5ED7E6FE}" type="datetime1">
              <a:rPr lang="en-US" smtClean="0"/>
              <a:t>6/6/2026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E9E0D87-B7D0-4C2E-BAD1-97A555313A20}" type="datetime1">
              <a:rPr lang="en-US" smtClean="0"/>
              <a:t>6/6/2026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9814657-813A-4D7B-A2F8-E573BA1645D3}" type="datetime1">
              <a:rPr lang="en-US" smtClean="0"/>
              <a:t>6/6/2026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384" y="836712"/>
            <a:ext cx="10055354" cy="4007406"/>
          </a:xfrm>
        </p:spPr>
        <p:txBody>
          <a:bodyPr>
            <a:noAutofit/>
          </a:bodyPr>
          <a:lstStyle/>
          <a:p>
            <a:r>
              <a:rPr lang="en-IN" sz="6000" dirty="0"/>
              <a:t>Agentic AI Based Dynamic Tariff Optimization for EV Charging Networks</a:t>
            </a:r>
            <a:endParaRPr lang="en-US" sz="60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968AE7C-8A84-E745-456B-433DFF31C4A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09598" y="5334234"/>
            <a:ext cx="1023893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Subtitle: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Using Large Scale Charging Session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Competition: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Open Project 2026, Society of Business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Datasets: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ACN-Data (Caltech, USA) ·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UrbanEV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ST-EVCDP (Shenzhen, China)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4CED9D-54C3-3013-7475-37C42E896003}"/>
              </a:ext>
            </a:extLst>
          </p:cNvPr>
          <p:cNvSpPr txBox="1"/>
          <p:nvPr/>
        </p:nvSpPr>
        <p:spPr>
          <a:xfrm>
            <a:off x="8976320" y="6349897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24117044, Dinesh Sunda</a:t>
            </a:r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E7F12-B442-3FE0-14DD-7641785FF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en-IN" sz="4000" dirty="0"/>
              <a:t>Data Landscape &amp; Preprocessing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219E1-88D6-E57F-8A92-C3E443143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9856" y="1749153"/>
            <a:ext cx="3323113" cy="3096344"/>
          </a:xfrm>
        </p:spPr>
        <p:txBody>
          <a:bodyPr/>
          <a:lstStyle/>
          <a:p>
            <a:r>
              <a:rPr lang="en-IN" b="1" dirty="0" err="1"/>
              <a:t>UrbanEV</a:t>
            </a:r>
            <a:r>
              <a:rPr lang="en-IN" b="1" dirty="0"/>
              <a:t> ST-EVCDP (Shenzhen)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247 charging stations · 8,640 timestamps at 5-minute intervals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2,134,080 station-level records after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Files: occupancy, volume, duration, price, time, stations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Date range: June 19 – July 18, 2022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Zero missing values after cleaning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2281BFE-89F8-BF03-425F-53B7309C844B}"/>
              </a:ext>
            </a:extLst>
          </p:cNvPr>
          <p:cNvSpPr txBox="1">
            <a:spLocks/>
          </p:cNvSpPr>
          <p:nvPr/>
        </p:nvSpPr>
        <p:spPr>
          <a:xfrm>
            <a:off x="8400256" y="1628800"/>
            <a:ext cx="3323113" cy="41129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Engineered Features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Session Duration (hrs) = </a:t>
            </a:r>
            <a:r>
              <a:rPr lang="en-IN" dirty="0" err="1"/>
              <a:t>disconnectTime</a:t>
            </a:r>
            <a:r>
              <a:rPr lang="en-IN" dirty="0"/>
              <a:t> − </a:t>
            </a:r>
            <a:r>
              <a:rPr lang="en-IN" dirty="0" err="1"/>
              <a:t>connectionTime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Charger Utilization Rate = occupancy / total chargers at station (clipped 0–1)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Revenue per Session = </a:t>
            </a:r>
            <a:r>
              <a:rPr lang="en-IN" dirty="0" err="1"/>
              <a:t>kWhDelivered</a:t>
            </a:r>
            <a:r>
              <a:rPr lang="en-IN" dirty="0"/>
              <a:t> × ₹15 (baseline)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Congestion Flag = 1 if utilization &gt; 80%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Low Demand Flag = 1 if utilization &lt; 30%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Lag Features = utilization at t−1, t−12, t−24 intervals (for ML)</a:t>
            </a:r>
            <a:endParaRPr lang="en-IN" dirty="0">
              <a:effectLst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AD8A93-4568-4384-7E92-92343815B787}"/>
              </a:ext>
            </a:extLst>
          </p:cNvPr>
          <p:cNvSpPr txBox="1">
            <a:spLocks/>
          </p:cNvSpPr>
          <p:nvPr/>
        </p:nvSpPr>
        <p:spPr>
          <a:xfrm>
            <a:off x="767408" y="1749153"/>
            <a:ext cx="3954417" cy="42001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ACN-Data (Caltech)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14,848 EV charging sessions · April 2018 – December 2018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Source: Adaptive Charging Network, Caltech workplace 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Format: JSON (xlsx) converted to structured CSV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Key fields used: </a:t>
            </a:r>
            <a:r>
              <a:rPr lang="en-IN" dirty="0" err="1"/>
              <a:t>connectionTime</a:t>
            </a:r>
            <a:r>
              <a:rPr lang="en-IN" dirty="0"/>
              <a:t>, </a:t>
            </a:r>
            <a:r>
              <a:rPr lang="en-IN" dirty="0" err="1"/>
              <a:t>disconnectTime</a:t>
            </a:r>
            <a:r>
              <a:rPr lang="en-IN" dirty="0"/>
              <a:t>, </a:t>
            </a:r>
            <a:r>
              <a:rPr lang="en-IN" dirty="0" err="1"/>
              <a:t>kWhDelivered</a:t>
            </a:r>
            <a:r>
              <a:rPr lang="en-IN" dirty="0"/>
              <a:t>, </a:t>
            </a:r>
            <a:r>
              <a:rPr lang="en-IN" dirty="0" err="1"/>
              <a:t>stationID</a:t>
            </a:r>
            <a:r>
              <a:rPr lang="en-IN" dirty="0"/>
              <a:t>, </a:t>
            </a:r>
            <a:r>
              <a:rPr lang="en-IN" dirty="0" err="1"/>
              <a:t>sessionDuration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Dropped 1,305 rows missing critical fields (</a:t>
            </a:r>
            <a:r>
              <a:rPr lang="en-IN" dirty="0" err="1"/>
              <a:t>connectionTime</a:t>
            </a:r>
            <a:r>
              <a:rPr lang="en-IN" dirty="0"/>
              <a:t>, </a:t>
            </a:r>
            <a:r>
              <a:rPr lang="en-IN" dirty="0" err="1"/>
              <a:t>disconnectTime</a:t>
            </a:r>
            <a:r>
              <a:rPr lang="en-IN" dirty="0"/>
              <a:t>, </a:t>
            </a:r>
            <a:r>
              <a:rPr lang="en-IN" dirty="0" err="1"/>
              <a:t>kWhDelivered</a:t>
            </a:r>
            <a:r>
              <a:rPr lang="en-I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Fixed baseline tariff: ₹15/kWh (as per project specification)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45CEA0-08CF-4BCD-4546-8F0040ECB3E5}"/>
              </a:ext>
            </a:extLst>
          </p:cNvPr>
          <p:cNvSpPr txBox="1"/>
          <p:nvPr/>
        </p:nvSpPr>
        <p:spPr>
          <a:xfrm>
            <a:off x="536792" y="6043075"/>
            <a:ext cx="11118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Assumption:</a:t>
            </a:r>
            <a:r>
              <a:rPr lang="en-IN" dirty="0"/>
              <a:t> ST-EVCDP occupancy represents number of chargers in use, not a binary 0/1. Utilization rate normalised using station-level charger count from stations.csv.</a:t>
            </a:r>
          </a:p>
        </p:txBody>
      </p:sp>
    </p:spTree>
    <p:extLst>
      <p:ext uri="{BB962C8B-B14F-4D97-AF65-F5344CB8AC3E}">
        <p14:creationId xmlns:p14="http://schemas.microsoft.com/office/powerpoint/2010/main" val="3660833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19D8B-D926-74FC-CED0-E40541D06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58" y="404664"/>
            <a:ext cx="6092942" cy="1159024"/>
          </a:xfrm>
        </p:spPr>
        <p:txBody>
          <a:bodyPr/>
          <a:lstStyle/>
          <a:p>
            <a:r>
              <a:rPr lang="en-IN" sz="4000" dirty="0"/>
              <a:t>2. EDA : Key Demand Behaviour Insights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568474-55D6-9E0E-A4DF-238F65E707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42867" y="1772816"/>
            <a:ext cx="6192688" cy="5033664"/>
          </a:xfrm>
        </p:spPr>
        <p:txBody>
          <a:bodyPr/>
          <a:lstStyle/>
          <a:p>
            <a:r>
              <a:rPr lang="en-IN" sz="1200" b="1" dirty="0"/>
              <a:t>Finding 1 : Peak Hour at 3 PM (ACN)</a:t>
            </a:r>
            <a:r>
              <a:rPr lang="en-IN" sz="1200" dirty="0"/>
              <a:t> Charging sessions peak at hour 15, with counts 20× higher than the 9 AM trough. This is consistent with workplace charging behaviour, users plug in after lunch and charge through the afternoon.</a:t>
            </a:r>
          </a:p>
          <a:p>
            <a:r>
              <a:rPr lang="en-IN" sz="1200" b="1" dirty="0"/>
              <a:t>Finding 2 : Weekday Dominance (ACN)</a:t>
            </a:r>
            <a:r>
              <a:rPr lang="en-IN" sz="1200" dirty="0"/>
              <a:t> Weekdays deliver 2× more sessions than weekends. However, weekend sessions are shorter on average (3.9 hrs vs 5.9 hrs on weekdays), suggesting different charging intent, top-up vs full charge.</a:t>
            </a:r>
          </a:p>
          <a:p>
            <a:r>
              <a:rPr lang="en-IN" sz="1200" b="1" dirty="0"/>
              <a:t>Finding 3 : Session Distribution (ACN)</a:t>
            </a:r>
            <a:r>
              <a:rPr lang="en-IN" sz="1200" dirty="0"/>
              <a:t> Median session: 4.7 hrs duration, 7.4 kWh delivered. Both distributions are right-skewed, the majority of sessions are short and low-energy with a long tail of overnight charging events.</a:t>
            </a:r>
          </a:p>
          <a:p>
            <a:r>
              <a:rPr lang="en-IN" sz="1200" b="1" dirty="0"/>
              <a:t>Finding 4 : Shenzhen Utilization Near Threshold (ST-EVCDP)</a:t>
            </a:r>
            <a:r>
              <a:rPr lang="en-IN" sz="1200" dirty="0"/>
              <a:t> Average utilization across all 247 stations is 77%, sitting just below the 80% congestion threshold. Congestion % trends upward from 65.3% to 69% over the 30-day window, a warning signal for operators.</a:t>
            </a:r>
          </a:p>
          <a:p>
            <a:r>
              <a:rPr lang="en-IN" sz="1200" b="1" dirty="0"/>
              <a:t>Finding 5 : Flat Pricing Despite Demand Swings (ST-EVCDP)</a:t>
            </a:r>
            <a:r>
              <a:rPr lang="en-IN" sz="1200" dirty="0"/>
              <a:t> Price vs utilization scatter shows near-zero correlation. Current tariffs are completely blind to demand fluctuations. This is the core market failure that dynamic pricing addresses.</a:t>
            </a:r>
          </a:p>
          <a:p>
            <a:endParaRPr lang="en-IN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D8CE1F-B2C2-D060-98C4-2350B9C8D4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4" y="15633"/>
            <a:ext cx="5356696" cy="31726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1BABEB-7793-D40B-D37A-B48FA5B811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" y="3537128"/>
            <a:ext cx="5085824" cy="301223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9B5CBAE-1EE7-B43C-A8F3-122E2A2FD048}"/>
              </a:ext>
            </a:extLst>
          </p:cNvPr>
          <p:cNvSpPr txBox="1"/>
          <p:nvPr/>
        </p:nvSpPr>
        <p:spPr>
          <a:xfrm>
            <a:off x="154660" y="3136206"/>
            <a:ext cx="47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acn_hourly_demand.png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DADE62-7F54-91F5-800E-2DF7A3AB59AD}"/>
              </a:ext>
            </a:extLst>
          </p:cNvPr>
          <p:cNvSpPr txBox="1"/>
          <p:nvPr/>
        </p:nvSpPr>
        <p:spPr>
          <a:xfrm>
            <a:off x="140513" y="6484559"/>
            <a:ext cx="47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acn_weekday_weekend.png</a:t>
            </a:r>
          </a:p>
        </p:txBody>
      </p:sp>
    </p:spTree>
    <p:extLst>
      <p:ext uri="{BB962C8B-B14F-4D97-AF65-F5344CB8AC3E}">
        <p14:creationId xmlns:p14="http://schemas.microsoft.com/office/powerpoint/2010/main" val="1097257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BAF045-47BB-73C6-A490-5E5B611A6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8" y="2912"/>
            <a:ext cx="6003384" cy="32100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984DF9-9973-D039-E76F-BD919C2FFB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3936" y="1"/>
            <a:ext cx="6003384" cy="32100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8A2A05-228D-1AF4-2984-8EF0FE6425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4" y="3501008"/>
            <a:ext cx="6011088" cy="29969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0C3CF4-F98C-8077-29D4-018425FB60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3936" y="3501008"/>
            <a:ext cx="6015160" cy="29969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99C4E69-A562-387E-B188-F26E3CD1CFE5}"/>
              </a:ext>
            </a:extLst>
          </p:cNvPr>
          <p:cNvSpPr txBox="1"/>
          <p:nvPr/>
        </p:nvSpPr>
        <p:spPr>
          <a:xfrm>
            <a:off x="119336" y="3172326"/>
            <a:ext cx="47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acn_distributions.png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67DDB4-D274-715E-C275-3F4DF3CC7815}"/>
              </a:ext>
            </a:extLst>
          </p:cNvPr>
          <p:cNvSpPr txBox="1"/>
          <p:nvPr/>
        </p:nvSpPr>
        <p:spPr>
          <a:xfrm>
            <a:off x="6240016" y="3170871"/>
            <a:ext cx="47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evcdp_utilization_heatmap.png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DAAFF1-DC6F-BF97-A685-9034C7927011}"/>
              </a:ext>
            </a:extLst>
          </p:cNvPr>
          <p:cNvSpPr txBox="1"/>
          <p:nvPr/>
        </p:nvSpPr>
        <p:spPr>
          <a:xfrm>
            <a:off x="137280" y="6488668"/>
            <a:ext cx="47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evcdp_demand_over_time.png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7BAD3B-4386-8093-DE69-5213B60C6609}"/>
              </a:ext>
            </a:extLst>
          </p:cNvPr>
          <p:cNvSpPr txBox="1"/>
          <p:nvPr/>
        </p:nvSpPr>
        <p:spPr>
          <a:xfrm>
            <a:off x="6240016" y="6497960"/>
            <a:ext cx="47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evcdp_price_vs_utilization.png</a:t>
            </a:r>
          </a:p>
        </p:txBody>
      </p:sp>
    </p:spTree>
    <p:extLst>
      <p:ext uri="{BB962C8B-B14F-4D97-AF65-F5344CB8AC3E}">
        <p14:creationId xmlns:p14="http://schemas.microsoft.com/office/powerpoint/2010/main" val="3134563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A43B07-3CA5-7384-E940-6A57ED4F23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" y="0"/>
            <a:ext cx="6087720" cy="30243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947C92-A6EA-F608-EB1A-E450D077B5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016" y="1"/>
            <a:ext cx="5951984" cy="30243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2EED67-B3DA-ECE9-EA57-E6A2D75139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" y="3429000"/>
            <a:ext cx="6087720" cy="30963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DCF486-BDEC-2FD9-B4D1-C9EE10C194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016" y="3429000"/>
            <a:ext cx="5951984" cy="30963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A52FBC-6913-D5F8-C435-2250052504A0}"/>
              </a:ext>
            </a:extLst>
          </p:cNvPr>
          <p:cNvSpPr txBox="1"/>
          <p:nvPr/>
        </p:nvSpPr>
        <p:spPr>
          <a:xfrm>
            <a:off x="6240016" y="6488667"/>
            <a:ext cx="47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demand_prediction_results.png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D53B6F-5D69-BEB3-1109-A7FA1CE63B6B}"/>
              </a:ext>
            </a:extLst>
          </p:cNvPr>
          <p:cNvSpPr txBox="1"/>
          <p:nvPr/>
        </p:nvSpPr>
        <p:spPr>
          <a:xfrm>
            <a:off x="6253936" y="3067620"/>
            <a:ext cx="47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hourly_tariff_profile.png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840D7C-1A6D-2E0A-CEE5-1BD8395C0127}"/>
              </a:ext>
            </a:extLst>
          </p:cNvPr>
          <p:cNvSpPr txBox="1"/>
          <p:nvPr/>
        </p:nvSpPr>
        <p:spPr>
          <a:xfrm>
            <a:off x="8280" y="3042002"/>
            <a:ext cx="47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tariff_pricing_results.png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AF01C6-378D-DDA4-7EBA-0DD9398E9F1F}"/>
              </a:ext>
            </a:extLst>
          </p:cNvPr>
          <p:cNvSpPr txBox="1"/>
          <p:nvPr/>
        </p:nvSpPr>
        <p:spPr>
          <a:xfrm>
            <a:off x="8280" y="6492428"/>
            <a:ext cx="47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monitoring_agent_dashboard.png</a:t>
            </a:r>
          </a:p>
        </p:txBody>
      </p:sp>
    </p:spTree>
    <p:extLst>
      <p:ext uri="{BB962C8B-B14F-4D97-AF65-F5344CB8AC3E}">
        <p14:creationId xmlns:p14="http://schemas.microsoft.com/office/powerpoint/2010/main" val="3463952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96EA4-7937-27C2-48D6-DB97CAE296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35" y="140732"/>
            <a:ext cx="10382909" cy="946449"/>
          </a:xfrm>
        </p:spPr>
        <p:txBody>
          <a:bodyPr/>
          <a:lstStyle/>
          <a:p>
            <a:r>
              <a:rPr lang="en-IN" sz="4000" dirty="0"/>
              <a:t>3.  Demand Prediction Agent : 	Modelling &amp;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74CC74-205A-74D1-AA34-34B4C351AB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35" y="1136257"/>
            <a:ext cx="11316001" cy="894646"/>
          </a:xfrm>
        </p:spPr>
        <p:txBody>
          <a:bodyPr/>
          <a:lstStyle/>
          <a:p>
            <a:r>
              <a:rPr lang="en-IN" sz="1600" b="1" dirty="0"/>
              <a:t>Approach</a:t>
            </a:r>
            <a:r>
              <a:rPr lang="en-IN" sz="1600" dirty="0"/>
              <a:t> Three models trained and compared: Random Forest, XGBoost, Gradient Boosting. Evaluated on 80/20 train-test split with RMSE, MAE, and R².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AFFE671-91C1-6959-6FC7-F4F729350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38422"/>
              </p:ext>
            </p:extLst>
          </p:nvPr>
        </p:nvGraphicFramePr>
        <p:xfrm>
          <a:off x="720659" y="2420888"/>
          <a:ext cx="5447348" cy="22611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1837">
                  <a:extLst>
                    <a:ext uri="{9D8B030D-6E8A-4147-A177-3AD203B41FA5}">
                      <a16:colId xmlns:a16="http://schemas.microsoft.com/office/drawing/2014/main" val="2069015012"/>
                    </a:ext>
                  </a:extLst>
                </a:gridCol>
                <a:gridCol w="1361837">
                  <a:extLst>
                    <a:ext uri="{9D8B030D-6E8A-4147-A177-3AD203B41FA5}">
                      <a16:colId xmlns:a16="http://schemas.microsoft.com/office/drawing/2014/main" val="3406153750"/>
                    </a:ext>
                  </a:extLst>
                </a:gridCol>
                <a:gridCol w="1361837">
                  <a:extLst>
                    <a:ext uri="{9D8B030D-6E8A-4147-A177-3AD203B41FA5}">
                      <a16:colId xmlns:a16="http://schemas.microsoft.com/office/drawing/2014/main" val="2487617507"/>
                    </a:ext>
                  </a:extLst>
                </a:gridCol>
                <a:gridCol w="1361837">
                  <a:extLst>
                    <a:ext uri="{9D8B030D-6E8A-4147-A177-3AD203B41FA5}">
                      <a16:colId xmlns:a16="http://schemas.microsoft.com/office/drawing/2014/main" val="3249442275"/>
                    </a:ext>
                  </a:extLst>
                </a:gridCol>
              </a:tblGrid>
              <a:tr h="464748">
                <a:tc>
                  <a:txBody>
                    <a:bodyPr/>
                    <a:lstStyle/>
                    <a:p>
                      <a:r>
                        <a:rPr lang="en-IN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236578"/>
                  </a:ext>
                </a:extLst>
              </a:tr>
              <a:tr h="691616">
                <a:tc>
                  <a:txBody>
                    <a:bodyPr/>
                    <a:lstStyle/>
                    <a:p>
                      <a:r>
                        <a:rPr lang="en-IN" dirty="0"/>
                        <a:t>Random Forest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5.97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3.92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0.286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9201845"/>
                  </a:ext>
                </a:extLst>
              </a:tr>
              <a:tr h="464748">
                <a:tc>
                  <a:txBody>
                    <a:bodyPr/>
                    <a:lstStyle/>
                    <a:p>
                      <a:r>
                        <a:rPr lang="en-IN" dirty="0"/>
                        <a:t>XGBoost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6.05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4.03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0.267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347242"/>
                  </a:ext>
                </a:extLst>
              </a:tr>
              <a:tr h="601236">
                <a:tc>
                  <a:txBody>
                    <a:bodyPr/>
                    <a:lstStyle/>
                    <a:p>
                      <a:r>
                        <a:rPr lang="en-IN" dirty="0"/>
                        <a:t>Gradient Boost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6.02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4.07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0.273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90658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A5B05E3-020B-C633-81D3-E189ECFCB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920918"/>
              </p:ext>
            </p:extLst>
          </p:nvPr>
        </p:nvGraphicFramePr>
        <p:xfrm>
          <a:off x="6528048" y="2418080"/>
          <a:ext cx="5256584" cy="22611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14146">
                  <a:extLst>
                    <a:ext uri="{9D8B030D-6E8A-4147-A177-3AD203B41FA5}">
                      <a16:colId xmlns:a16="http://schemas.microsoft.com/office/drawing/2014/main" val="2069015012"/>
                    </a:ext>
                  </a:extLst>
                </a:gridCol>
                <a:gridCol w="1314146">
                  <a:extLst>
                    <a:ext uri="{9D8B030D-6E8A-4147-A177-3AD203B41FA5}">
                      <a16:colId xmlns:a16="http://schemas.microsoft.com/office/drawing/2014/main" val="3406153750"/>
                    </a:ext>
                  </a:extLst>
                </a:gridCol>
                <a:gridCol w="1314146">
                  <a:extLst>
                    <a:ext uri="{9D8B030D-6E8A-4147-A177-3AD203B41FA5}">
                      <a16:colId xmlns:a16="http://schemas.microsoft.com/office/drawing/2014/main" val="2487617507"/>
                    </a:ext>
                  </a:extLst>
                </a:gridCol>
                <a:gridCol w="1314146">
                  <a:extLst>
                    <a:ext uri="{9D8B030D-6E8A-4147-A177-3AD203B41FA5}">
                      <a16:colId xmlns:a16="http://schemas.microsoft.com/office/drawing/2014/main" val="3249442275"/>
                    </a:ext>
                  </a:extLst>
                </a:gridCol>
              </a:tblGrid>
              <a:tr h="414741">
                <a:tc>
                  <a:txBody>
                    <a:bodyPr/>
                    <a:lstStyle/>
                    <a:p>
                      <a:r>
                        <a:rPr lang="en-IN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236578"/>
                  </a:ext>
                </a:extLst>
              </a:tr>
              <a:tr h="715855">
                <a:tc>
                  <a:txBody>
                    <a:bodyPr/>
                    <a:lstStyle/>
                    <a:p>
                      <a:r>
                        <a:rPr lang="en-IN" dirty="0"/>
                        <a:t>Random Forest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0.035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0.008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0.989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9201845"/>
                  </a:ext>
                </a:extLst>
              </a:tr>
              <a:tr h="414741">
                <a:tc>
                  <a:txBody>
                    <a:bodyPr/>
                    <a:lstStyle/>
                    <a:p>
                      <a:r>
                        <a:rPr lang="en-IN" dirty="0"/>
                        <a:t>XGBoost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0.040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0.013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0.986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347242"/>
                  </a:ext>
                </a:extLst>
              </a:tr>
              <a:tr h="715855">
                <a:tc>
                  <a:txBody>
                    <a:bodyPr/>
                    <a:lstStyle/>
                    <a:p>
                      <a:r>
                        <a:rPr lang="en-IN" dirty="0"/>
                        <a:t>Gradient Boost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0.051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0.016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0.977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90658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AD9DA2F-9410-71F0-9B88-6365EC0CF535}"/>
              </a:ext>
            </a:extLst>
          </p:cNvPr>
          <p:cNvSpPr txBox="1"/>
          <p:nvPr/>
        </p:nvSpPr>
        <p:spPr>
          <a:xfrm>
            <a:off x="629415" y="1984269"/>
            <a:ext cx="5538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ACN Dataset : Session-level kWh </a:t>
            </a:r>
            <a:r>
              <a:rPr lang="en-IN" sz="1600" dirty="0" err="1">
                <a:solidFill>
                  <a:schemeClr val="bg1"/>
                </a:solidFill>
              </a:rPr>
              <a:t>predictionsion</a:t>
            </a:r>
            <a:r>
              <a:rPr lang="en-IN" sz="1600" dirty="0">
                <a:solidFill>
                  <a:schemeClr val="bg1"/>
                </a:solidFill>
              </a:rPr>
              <a:t>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92BC41-AE89-97F0-73D6-22822271BAC6}"/>
              </a:ext>
            </a:extLst>
          </p:cNvPr>
          <p:cNvSpPr txBox="1"/>
          <p:nvPr/>
        </p:nvSpPr>
        <p:spPr>
          <a:xfrm>
            <a:off x="6387044" y="1984269"/>
            <a:ext cx="5538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ST-EVCDP Dataset : Station utilization rate prediction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C0CB72-1AD2-A902-F001-D7C560C17258}"/>
              </a:ext>
            </a:extLst>
          </p:cNvPr>
          <p:cNvSpPr txBox="1"/>
          <p:nvPr/>
        </p:nvSpPr>
        <p:spPr>
          <a:xfrm>
            <a:off x="720659" y="4955043"/>
            <a:ext cx="10703933" cy="1677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400" b="1" dirty="0">
                <a:solidFill>
                  <a:schemeClr val="bg1"/>
                </a:solidFill>
              </a:rPr>
              <a:t>Best model: Random Forest for both datasets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b="1" dirty="0">
                <a:solidFill>
                  <a:schemeClr val="bg1"/>
                </a:solidFill>
              </a:rPr>
              <a:t>Key Insights</a:t>
            </a:r>
            <a:endParaRPr lang="en-IN" sz="14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ST-EVCDP R² = 0.989: near-perfect utilization forecasting. The dominant feature is util_lag_1 (previous 5-minute reading), contributing over 95% of feature importance. Station-level utilization is highly autocorrelated.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ACN R² = 0.286: lower performance is expected and honest. Individual session energy demand depends heavily on the user's battery state at plug-in, which is not available in the dataset. This is a known limitation, not a modelling flaw.</a:t>
            </a:r>
          </a:p>
          <a:p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B8B3B1-0C6B-B444-9D15-63451ED9ED4F}"/>
              </a:ext>
            </a:extLst>
          </p:cNvPr>
          <p:cNvSpPr txBox="1"/>
          <p:nvPr/>
        </p:nvSpPr>
        <p:spPr>
          <a:xfrm>
            <a:off x="624856" y="6424996"/>
            <a:ext cx="116622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</a:rPr>
              <a:t>Features used: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dirty="0" err="1">
                <a:solidFill>
                  <a:schemeClr val="bg1"/>
                </a:solidFill>
              </a:rPr>
              <a:t>hour_of_day</a:t>
            </a:r>
            <a:r>
              <a:rPr lang="en-IN" sz="1400" dirty="0">
                <a:solidFill>
                  <a:schemeClr val="bg1"/>
                </a:solidFill>
              </a:rPr>
              <a:t>, </a:t>
            </a:r>
            <a:r>
              <a:rPr lang="en-IN" sz="1400" dirty="0" err="1">
                <a:solidFill>
                  <a:schemeClr val="bg1"/>
                </a:solidFill>
              </a:rPr>
              <a:t>day_of_week</a:t>
            </a:r>
            <a:r>
              <a:rPr lang="en-IN" sz="1400" dirty="0">
                <a:solidFill>
                  <a:schemeClr val="bg1"/>
                </a:solidFill>
              </a:rPr>
              <a:t>, </a:t>
            </a:r>
            <a:r>
              <a:rPr lang="en-IN" sz="1400" dirty="0" err="1">
                <a:solidFill>
                  <a:schemeClr val="bg1"/>
                </a:solidFill>
              </a:rPr>
              <a:t>is_weekend</a:t>
            </a:r>
            <a:r>
              <a:rPr lang="en-IN" sz="1400" dirty="0">
                <a:solidFill>
                  <a:schemeClr val="bg1"/>
                </a:solidFill>
              </a:rPr>
              <a:t>, month, </a:t>
            </a:r>
            <a:r>
              <a:rPr lang="en-IN" sz="1400" dirty="0" err="1">
                <a:solidFill>
                  <a:schemeClr val="bg1"/>
                </a:solidFill>
              </a:rPr>
              <a:t>station_encoded</a:t>
            </a:r>
            <a:r>
              <a:rPr lang="en-IN" sz="1400" dirty="0">
                <a:solidFill>
                  <a:schemeClr val="bg1"/>
                </a:solidFill>
              </a:rPr>
              <a:t>, util_lag_1, util_lag_12, util_lag_24, volume, </a:t>
            </a:r>
            <a:r>
              <a:rPr lang="en-IN" sz="1400" dirty="0" err="1">
                <a:solidFill>
                  <a:schemeClr val="bg1"/>
                </a:solidFill>
              </a:rPr>
              <a:t>duration_mins</a:t>
            </a:r>
            <a:endParaRPr lang="en-IN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86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173FE-62FA-A460-6A86-534AFE642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1460016" cy="762001"/>
          </a:xfrm>
        </p:spPr>
        <p:txBody>
          <a:bodyPr/>
          <a:lstStyle/>
          <a:p>
            <a:r>
              <a:rPr lang="en-IN" dirty="0"/>
              <a:t>4.  Dynamic Tariff Pricing Agent 	: Logic &amp; Outcomes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D8CB5FC-F1C9-7E53-B225-40B90D901B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924207"/>
              </p:ext>
            </p:extLst>
          </p:nvPr>
        </p:nvGraphicFramePr>
        <p:xfrm>
          <a:off x="607464" y="1956401"/>
          <a:ext cx="6408712" cy="2770538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93044894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31413045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653967370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371786494"/>
                    </a:ext>
                  </a:extLst>
                </a:gridCol>
              </a:tblGrid>
              <a:tr h="395791">
                <a:tc>
                  <a:txBody>
                    <a:bodyPr/>
                    <a:lstStyle/>
                    <a:p>
                      <a:r>
                        <a:rPr lang="en-IN" sz="1600" dirty="0"/>
                        <a:t>Zone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Condition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Tariff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Rationale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904899"/>
                  </a:ext>
                </a:extLst>
              </a:tr>
              <a:tr h="878331">
                <a:tc>
                  <a:txBody>
                    <a:bodyPr/>
                    <a:lstStyle/>
                    <a:p>
                      <a:r>
                        <a:rPr lang="en-IN" sz="1600" dirty="0"/>
                        <a:t>Discount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Utilization &lt; 30%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₹10.50/kWh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-30% off baseline, Incentivise off peak sessions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1997360"/>
                  </a:ext>
                </a:extLst>
              </a:tr>
              <a:tr h="618085">
                <a:tc>
                  <a:txBody>
                    <a:bodyPr/>
                    <a:lstStyle/>
                    <a:p>
                      <a:r>
                        <a:rPr lang="en-IN" sz="1600" dirty="0"/>
                        <a:t>Shoulder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30% - 80%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₹10.50 - ₹22.50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Linear interpolation between bounds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6951694"/>
                  </a:ext>
                </a:extLst>
              </a:tr>
              <a:tr h="878331">
                <a:tc>
                  <a:txBody>
                    <a:bodyPr/>
                    <a:lstStyle/>
                    <a:p>
                      <a:r>
                        <a:rPr lang="en-IN" sz="1600" dirty="0"/>
                        <a:t>Surge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Utilization &gt; 80%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₹22.50/kWh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+50% above baseline, Reduce peak congestion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79967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69BBB3C-03C4-5362-E2A5-65B63A00DDDD}"/>
              </a:ext>
            </a:extLst>
          </p:cNvPr>
          <p:cNvSpPr txBox="1"/>
          <p:nvPr/>
        </p:nvSpPr>
        <p:spPr>
          <a:xfrm>
            <a:off x="607464" y="4797152"/>
            <a:ext cx="64087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Demand Response Assumptions (transparently stated)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Surge zone: -15% session volume (price-sensitive users shift away)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Discount zone: +20% session volume (users incentivised to charge off-peak)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These are simulated assumptions. Real-world elasticity may differ.</a:t>
            </a:r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E2C4EA4-86EE-F20E-C5B7-2F5FE4545E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461320"/>
              </p:ext>
            </p:extLst>
          </p:nvPr>
        </p:nvGraphicFramePr>
        <p:xfrm>
          <a:off x="7464152" y="1956402"/>
          <a:ext cx="4480120" cy="3992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0060">
                  <a:extLst>
                    <a:ext uri="{9D8B030D-6E8A-4147-A177-3AD203B41FA5}">
                      <a16:colId xmlns:a16="http://schemas.microsoft.com/office/drawing/2014/main" val="820208503"/>
                    </a:ext>
                  </a:extLst>
                </a:gridCol>
                <a:gridCol w="2240060">
                  <a:extLst>
                    <a:ext uri="{9D8B030D-6E8A-4147-A177-3AD203B41FA5}">
                      <a16:colId xmlns:a16="http://schemas.microsoft.com/office/drawing/2014/main" val="765691208"/>
                    </a:ext>
                  </a:extLst>
                </a:gridCol>
              </a:tblGrid>
              <a:tr h="320614">
                <a:tc>
                  <a:txBody>
                    <a:bodyPr/>
                    <a:lstStyle/>
                    <a:p>
                      <a:r>
                        <a:rPr lang="en-IN" sz="1600" dirty="0"/>
                        <a:t>Metric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288489"/>
                  </a:ext>
                </a:extLst>
              </a:tr>
              <a:tr h="320614">
                <a:tc>
                  <a:txBody>
                    <a:bodyPr/>
                    <a:lstStyle/>
                    <a:p>
                      <a:r>
                        <a:rPr lang="en-IN" sz="1600" dirty="0"/>
                        <a:t>Baseline Revenue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54,810,967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1768020"/>
                  </a:ext>
                </a:extLst>
              </a:tr>
              <a:tr h="320614">
                <a:tc>
                  <a:txBody>
                    <a:bodyPr/>
                    <a:lstStyle/>
                    <a:p>
                      <a:r>
                        <a:rPr lang="en-IN" sz="1600" dirty="0"/>
                        <a:t>Dynamic Revenue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81,070,266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2068044"/>
                  </a:ext>
                </a:extLst>
              </a:tr>
              <a:tr h="1020136">
                <a:tc>
                  <a:txBody>
                    <a:bodyPr/>
                    <a:lstStyle/>
                    <a:p>
                      <a:r>
                        <a:rPr lang="en-IN" sz="1600" dirty="0"/>
                        <a:t>Revenue Gain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+47.91% (simulated; conservative real world estimate: 15–25%)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9562568"/>
                  </a:ext>
                </a:extLst>
              </a:tr>
              <a:tr h="320614">
                <a:tc>
                  <a:txBody>
                    <a:bodyPr/>
                    <a:lstStyle/>
                    <a:p>
                      <a:r>
                        <a:rPr lang="en-IN" sz="1600" dirty="0" err="1"/>
                        <a:t>Avg</a:t>
                      </a:r>
                      <a:r>
                        <a:rPr lang="en-IN" sz="1600" dirty="0"/>
                        <a:t> Utilization Before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0.771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2931753"/>
                  </a:ext>
                </a:extLst>
              </a:tr>
              <a:tr h="320614">
                <a:tc>
                  <a:txBody>
                    <a:bodyPr/>
                    <a:lstStyle/>
                    <a:p>
                      <a:r>
                        <a:rPr lang="en-IN" sz="1600" dirty="0" err="1"/>
                        <a:t>Avg</a:t>
                      </a:r>
                      <a:r>
                        <a:rPr lang="en-IN" sz="1600" dirty="0"/>
                        <a:t> Utilization After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0.677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5002521"/>
                  </a:ext>
                </a:extLst>
              </a:tr>
              <a:tr h="320614">
                <a:tc>
                  <a:txBody>
                    <a:bodyPr/>
                    <a:lstStyle/>
                    <a:p>
                      <a:r>
                        <a:rPr lang="en-IN" sz="1600" dirty="0"/>
                        <a:t>Congestion % Before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66.3%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864219"/>
                  </a:ext>
                </a:extLst>
              </a:tr>
              <a:tr h="320614">
                <a:tc>
                  <a:txBody>
                    <a:bodyPr/>
                    <a:lstStyle/>
                    <a:p>
                      <a:r>
                        <a:rPr lang="en-IN" sz="1600" dirty="0"/>
                        <a:t>Congestion % After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63.0%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4053762"/>
                  </a:ext>
                </a:extLst>
              </a:tr>
              <a:tr h="553788">
                <a:tc>
                  <a:txBody>
                    <a:bodyPr/>
                    <a:lstStyle/>
                    <a:p>
                      <a:r>
                        <a:rPr lang="en-IN" sz="1600" dirty="0"/>
                        <a:t>Sessions Shifted to Off Peak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3,196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228783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20BD899-657A-DA68-94DE-186A89C42821}"/>
              </a:ext>
            </a:extLst>
          </p:cNvPr>
          <p:cNvSpPr txBox="1"/>
          <p:nvPr/>
        </p:nvSpPr>
        <p:spPr>
          <a:xfrm>
            <a:off x="7464152" y="6097651"/>
            <a:ext cx="4480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Supporting charts:</a:t>
            </a:r>
            <a:r>
              <a:rPr lang="en-IN" sz="1600" dirty="0"/>
              <a:t> tariff_pricing_results.png, hourly_tariff_profile.png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342A47-9711-451A-1256-96E55E042A74}"/>
              </a:ext>
            </a:extLst>
          </p:cNvPr>
          <p:cNvSpPr txBox="1"/>
          <p:nvPr/>
        </p:nvSpPr>
        <p:spPr>
          <a:xfrm>
            <a:off x="596943" y="1517435"/>
            <a:ext cx="6352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Tariff Design Logic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721C0D-4973-EFD0-DC9D-238D51F8CF86}"/>
              </a:ext>
            </a:extLst>
          </p:cNvPr>
          <p:cNvSpPr txBox="1"/>
          <p:nvPr/>
        </p:nvSpPr>
        <p:spPr>
          <a:xfrm>
            <a:off x="7320136" y="1497962"/>
            <a:ext cx="439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Outcomes</a:t>
            </a:r>
          </a:p>
        </p:txBody>
      </p:sp>
    </p:spTree>
    <p:extLst>
      <p:ext uri="{BB962C8B-B14F-4D97-AF65-F5344CB8AC3E}">
        <p14:creationId xmlns:p14="http://schemas.microsoft.com/office/powerpoint/2010/main" val="1066866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06642-0611-900A-2DE5-C6DEDA136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dirty="0"/>
              <a:t>5.  Monitoring &amp; Learning Agent : 	Feedback Loop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7F094-AFAE-A17E-1F29-8163F35FA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635" y="1628800"/>
            <a:ext cx="5123313" cy="4768552"/>
          </a:xfrm>
        </p:spPr>
        <p:txBody>
          <a:bodyPr/>
          <a:lstStyle/>
          <a:p>
            <a:r>
              <a:rPr lang="en-IN" sz="1800" b="1" dirty="0"/>
              <a:t>Evaluation Approach: </a:t>
            </a:r>
            <a:r>
              <a:rPr lang="en-IN" sz="1800" dirty="0"/>
              <a:t> 98,815 tariff decisions split into 10 evaluation episodes. Each episode tracked: revenue gain, congestion %, pricing efficiency, and utilization before/after.</a:t>
            </a:r>
          </a:p>
          <a:p>
            <a:endParaRPr lang="en-IN" sz="1800" dirty="0"/>
          </a:p>
          <a:p>
            <a:r>
              <a:rPr lang="en-IN" sz="1800" b="1" dirty="0"/>
              <a:t>Feedback Loop Performance: </a:t>
            </a:r>
            <a:r>
              <a:rPr lang="en-IN" sz="1800" dirty="0"/>
              <a:t> Pricing efficiency improved from 1,180 in Episode 1 to 1,276 in Episode 9, demonstrating the self-improving nature of the monitoring loop. Congestion % fluctuated between 65.8% and 67.0% across episodes, with no episode exceeding the 80% threshold on average.</a:t>
            </a:r>
          </a:p>
          <a:p>
            <a:r>
              <a:rPr lang="en-IN" sz="1800" dirty="0"/>
              <a:t>Note: Wait time is estimated using a queue proxy model. Actual wait times require real-time queue data not available in either dataset.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A62BB1-F2C2-13B4-0762-3A80F217B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829334"/>
              </p:ext>
            </p:extLst>
          </p:nvPr>
        </p:nvGraphicFramePr>
        <p:xfrm>
          <a:off x="5970405" y="1988975"/>
          <a:ext cx="6120680" cy="466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0340">
                  <a:extLst>
                    <a:ext uri="{9D8B030D-6E8A-4147-A177-3AD203B41FA5}">
                      <a16:colId xmlns:a16="http://schemas.microsoft.com/office/drawing/2014/main" val="2163529099"/>
                    </a:ext>
                  </a:extLst>
                </a:gridCol>
                <a:gridCol w="3060340">
                  <a:extLst>
                    <a:ext uri="{9D8B030D-6E8A-4147-A177-3AD203B41FA5}">
                      <a16:colId xmlns:a16="http://schemas.microsoft.com/office/drawing/2014/main" val="198272979"/>
                    </a:ext>
                  </a:extLst>
                </a:gridCol>
              </a:tblGrid>
              <a:tr h="251157">
                <a:tc>
                  <a:txBody>
                    <a:bodyPr/>
                    <a:lstStyle/>
                    <a:p>
                      <a:r>
                        <a:rPr lang="en-IN" sz="1600" dirty="0"/>
                        <a:t>Metric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46396"/>
                  </a:ext>
                </a:extLst>
              </a:tr>
              <a:tr h="433817">
                <a:tc>
                  <a:txBody>
                    <a:bodyPr/>
                    <a:lstStyle/>
                    <a:p>
                      <a:r>
                        <a:rPr lang="en-IN" sz="1600" dirty="0" err="1"/>
                        <a:t>Avg</a:t>
                      </a:r>
                      <a:r>
                        <a:rPr lang="en-IN" sz="1600" dirty="0"/>
                        <a:t> Wait Time Before Dynamic Pricing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6.38 mins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43535"/>
                  </a:ext>
                </a:extLst>
              </a:tr>
              <a:tr h="433817">
                <a:tc>
                  <a:txBody>
                    <a:bodyPr/>
                    <a:lstStyle/>
                    <a:p>
                      <a:r>
                        <a:rPr lang="en-IN" sz="1600" dirty="0" err="1"/>
                        <a:t>Avg</a:t>
                      </a:r>
                      <a:r>
                        <a:rPr lang="en-IN" sz="1600" dirty="0"/>
                        <a:t> Wait Time After Dynamic Pricing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1.56 mins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552684"/>
                  </a:ext>
                </a:extLst>
              </a:tr>
              <a:tr h="251157">
                <a:tc>
                  <a:txBody>
                    <a:bodyPr/>
                    <a:lstStyle/>
                    <a:p>
                      <a:r>
                        <a:rPr lang="en-IN" sz="1600" dirty="0"/>
                        <a:t>Wait Time Reduction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75.6%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617936"/>
                  </a:ext>
                </a:extLst>
              </a:tr>
              <a:tr h="433817">
                <a:tc>
                  <a:txBody>
                    <a:bodyPr/>
                    <a:lstStyle/>
                    <a:p>
                      <a:r>
                        <a:rPr lang="en-IN" sz="1600" dirty="0" err="1"/>
                        <a:t>Cuatomer</a:t>
                      </a:r>
                      <a:r>
                        <a:rPr lang="en-IN" sz="1600" dirty="0"/>
                        <a:t> Response 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100% (all zones responded to tariff signal)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1164161"/>
                  </a:ext>
                </a:extLst>
              </a:tr>
              <a:tr h="251157">
                <a:tc>
                  <a:txBody>
                    <a:bodyPr/>
                    <a:lstStyle/>
                    <a:p>
                      <a:r>
                        <a:rPr lang="en-IN" sz="1600" dirty="0"/>
                        <a:t>Surge Zones Decisions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66.3% of 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7168962"/>
                  </a:ext>
                </a:extLst>
              </a:tr>
              <a:tr h="251157">
                <a:tc>
                  <a:txBody>
                    <a:bodyPr/>
                    <a:lstStyle/>
                    <a:p>
                      <a:r>
                        <a:rPr lang="en-IN" sz="1600" dirty="0"/>
                        <a:t>Discount Zone Decisions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16.2% of 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4343579"/>
                  </a:ext>
                </a:extLst>
              </a:tr>
              <a:tr h="433817">
                <a:tc>
                  <a:txBody>
                    <a:bodyPr/>
                    <a:lstStyle/>
                    <a:p>
                      <a:r>
                        <a:rPr lang="en-IN" sz="1600" dirty="0" err="1"/>
                        <a:t>Avg</a:t>
                      </a:r>
                      <a:r>
                        <a:rPr lang="en-IN" sz="1600" dirty="0"/>
                        <a:t> Revenue Gain Across Episodes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47.91%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0978686"/>
                  </a:ext>
                </a:extLst>
              </a:tr>
              <a:tr h="251157">
                <a:tc>
                  <a:txBody>
                    <a:bodyPr/>
                    <a:lstStyle/>
                    <a:p>
                      <a:r>
                        <a:rPr lang="en-IN" sz="1600" dirty="0" err="1"/>
                        <a:t>Avg</a:t>
                      </a:r>
                      <a:r>
                        <a:rPr lang="en-IN" sz="1600" dirty="0"/>
                        <a:t> Pricing Efficiency Score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1,211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5929975"/>
                  </a:ext>
                </a:extLst>
              </a:tr>
              <a:tr h="251157">
                <a:tc>
                  <a:txBody>
                    <a:bodyPr/>
                    <a:lstStyle/>
                    <a:p>
                      <a:r>
                        <a:rPr lang="en-IN" sz="1600" dirty="0"/>
                        <a:t>Prediction RMSE (ST-EVCDP)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0.035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6520810"/>
                  </a:ext>
                </a:extLst>
              </a:tr>
              <a:tr h="251157">
                <a:tc>
                  <a:txBody>
                    <a:bodyPr/>
                    <a:lstStyle/>
                    <a:p>
                      <a:r>
                        <a:rPr lang="en-IN" sz="1600" dirty="0"/>
                        <a:t>Prediction R2 (ST-EVCDP)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0.989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87059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A24C75E-DC3C-E591-431E-C2DE3C5CDBA2}"/>
              </a:ext>
            </a:extLst>
          </p:cNvPr>
          <p:cNvSpPr txBox="1"/>
          <p:nvPr/>
        </p:nvSpPr>
        <p:spPr>
          <a:xfrm>
            <a:off x="5970405" y="1605662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Key Metrics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457CF9-F3EA-F886-11CE-33375F6BF24E}"/>
              </a:ext>
            </a:extLst>
          </p:cNvPr>
          <p:cNvSpPr txBox="1"/>
          <p:nvPr/>
        </p:nvSpPr>
        <p:spPr>
          <a:xfrm>
            <a:off x="607381" y="6397352"/>
            <a:ext cx="48823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Supporting chart:</a:t>
            </a:r>
            <a:r>
              <a:rPr lang="en-IN" sz="1600" dirty="0"/>
              <a:t> monitoring_agent_dashboard.png</a:t>
            </a:r>
          </a:p>
        </p:txBody>
      </p:sp>
    </p:spTree>
    <p:extLst>
      <p:ext uri="{BB962C8B-B14F-4D97-AF65-F5344CB8AC3E}">
        <p14:creationId xmlns:p14="http://schemas.microsoft.com/office/powerpoint/2010/main" val="2875599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EC14E-7E18-09C2-44FF-9E1A26B4C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188640"/>
            <a:ext cx="8226424" cy="1296144"/>
          </a:xfrm>
        </p:spPr>
        <p:txBody>
          <a:bodyPr/>
          <a:lstStyle/>
          <a:p>
            <a:r>
              <a:rPr lang="en-IN" sz="3200" dirty="0"/>
              <a:t>6.  Business, Operational &amp; Policy   	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214CE-95DC-4993-7E99-C3ABE79C84F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71379" y="1772816"/>
            <a:ext cx="4032448" cy="4536504"/>
          </a:xfrm>
        </p:spPr>
        <p:txBody>
          <a:bodyPr/>
          <a:lstStyle/>
          <a:p>
            <a:r>
              <a:rPr lang="en-IN" sz="1600" b="1" dirty="0"/>
              <a:t>Limitations &amp; Transparency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ACN demand prediction R²=0.29 reflects the absence of battery state-of-charge data at plug-in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Demand response (−15% surge, +20% discount) is simulated — real user elasticity needs field measurement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ST-EVCDP covers only 30 days; longer time series would improve seasonal generalisation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Causal claims on revenue and wait time are avoided — all outcomes are model-estimated</a:t>
            </a:r>
          </a:p>
          <a:p>
            <a:endParaRPr lang="en-IN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F0B6B0-3E65-B86A-2BAB-69EE05954B67}"/>
              </a:ext>
            </a:extLst>
          </p:cNvPr>
          <p:cNvSpPr txBox="1">
            <a:spLocks/>
          </p:cNvSpPr>
          <p:nvPr/>
        </p:nvSpPr>
        <p:spPr>
          <a:xfrm>
            <a:off x="382547" y="1772816"/>
            <a:ext cx="7488832" cy="45365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b="1" dirty="0"/>
              <a:t>Revenue Uplift:</a:t>
            </a:r>
            <a:r>
              <a:rPr lang="en-IN" sz="1600" dirty="0"/>
              <a:t> A ~48% revenue gain over fixed ₹15/kWh pricing (under simulated demand response) demonstrates meaningful operator ROI from dynamic tariffs without any infrastructure addition. Conservative real-world estimates suggest 15–25% gains.</a:t>
            </a:r>
          </a:p>
          <a:p>
            <a:r>
              <a:rPr lang="en-IN" sz="1600" b="1" dirty="0"/>
              <a:t>Congestion Management:</a:t>
            </a:r>
            <a:r>
              <a:rPr lang="en-IN" sz="1600" dirty="0"/>
              <a:t> Surge pricing redistributes peak-hour demand and reduces estimated user wait times by 75.6%. Over 3,196 sessions shift to off-peak windows, directly smoothing demand curves.</a:t>
            </a:r>
          </a:p>
          <a:p>
            <a:r>
              <a:rPr lang="en-IN" sz="1600" b="1" dirty="0"/>
              <a:t>Grid Demand Smoothing: </a:t>
            </a:r>
            <a:r>
              <a:rPr lang="en-IN" sz="1600" dirty="0"/>
              <a:t> Distributed charging demand across time windows reduces grid stress, supporting utilities in peak load management and enabling better integration of renewable energy sources.</a:t>
            </a:r>
          </a:p>
          <a:p>
            <a:r>
              <a:rPr lang="en-IN" sz="1600" b="1" dirty="0"/>
              <a:t>Policy Design: </a:t>
            </a:r>
            <a:r>
              <a:rPr lang="en-IN" sz="1600" dirty="0"/>
              <a:t> Regulators can use data-driven elasticity proxies — customer response rate, off-peak uplift — to design fair and transparent dynamic tariff guidelines for EV infrastructure.</a:t>
            </a:r>
          </a:p>
          <a:p>
            <a:r>
              <a:rPr lang="en-IN" sz="1600" b="1" dirty="0"/>
              <a:t>Scalability: </a:t>
            </a:r>
            <a:r>
              <a:rPr lang="en-IN" sz="1600" dirty="0"/>
              <a:t> The agentic framework generalises across geographies. Trained on Shenzhen and Caltech data, the same pipeline applies to any city or charging network with session-level data.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43292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05FB1-3AED-698A-E8E5-B7A3A4EF6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0"/>
            <a:ext cx="2448272" cy="762001"/>
          </a:xfrm>
        </p:spPr>
        <p:txBody>
          <a:bodyPr/>
          <a:lstStyle/>
          <a:p>
            <a:r>
              <a:rPr lang="en-IN" sz="3200" dirty="0"/>
              <a:t>APPENDIX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E60F2-A5CD-4A8C-2787-B8B9E972B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1196752"/>
            <a:ext cx="11171985" cy="762001"/>
          </a:xfrm>
        </p:spPr>
        <p:txBody>
          <a:bodyPr/>
          <a:lstStyle/>
          <a:p>
            <a:r>
              <a:rPr lang="en-IN" sz="1600" b="1" dirty="0"/>
              <a:t>A1 : Feature Importance Chart</a:t>
            </a:r>
            <a:r>
              <a:rPr lang="en-IN" sz="1600" dirty="0"/>
              <a:t> (from demand_prediction_results.png) =&gt; util_lag_1 dominates at ~0.97 importance. Remaining features (</a:t>
            </a:r>
            <a:r>
              <a:rPr lang="en-IN" sz="1600" dirty="0" err="1"/>
              <a:t>station_encoded</a:t>
            </a:r>
            <a:r>
              <a:rPr lang="en-IN" sz="1600" dirty="0"/>
              <a:t>, </a:t>
            </a:r>
            <a:r>
              <a:rPr lang="en-IN" sz="1600" dirty="0" err="1"/>
              <a:t>duration_mins</a:t>
            </a:r>
            <a:r>
              <a:rPr lang="en-IN" sz="1600" dirty="0"/>
              <a:t>, volume, </a:t>
            </a:r>
            <a:r>
              <a:rPr lang="en-IN" sz="1600" dirty="0" err="1"/>
              <a:t>hour_of_day</a:t>
            </a:r>
            <a:r>
              <a:rPr lang="en-IN" sz="1600" dirty="0"/>
              <a:t>) contribute marginally.</a:t>
            </a:r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697A4C0-3971-213E-B639-03634234B1E2}"/>
              </a:ext>
            </a:extLst>
          </p:cNvPr>
          <p:cNvSpPr txBox="1">
            <a:spLocks/>
          </p:cNvSpPr>
          <p:nvPr/>
        </p:nvSpPr>
        <p:spPr>
          <a:xfrm>
            <a:off x="510007" y="2393504"/>
            <a:ext cx="11171985" cy="10081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b="1" dirty="0"/>
              <a:t>A2 : Tariff Curve Visualisation</a:t>
            </a:r>
            <a:r>
              <a:rPr lang="en-IN" sz="1600" dirty="0"/>
              <a:t> (from tariff_pricing_results.png) =&gt; Shows the full tariff schedule from ₹10.50 at zero utilization to ₹22.50 at 100%, with shaded surge and discount zones.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7B58F5B-16F9-8409-A406-F25727D79348}"/>
              </a:ext>
            </a:extLst>
          </p:cNvPr>
          <p:cNvSpPr txBox="1">
            <a:spLocks/>
          </p:cNvSpPr>
          <p:nvPr/>
        </p:nvSpPr>
        <p:spPr>
          <a:xfrm>
            <a:off x="510006" y="3401616"/>
            <a:ext cx="11171985" cy="10081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b="1" dirty="0"/>
              <a:t>A3 : Episode Dashboard</a:t>
            </a:r>
            <a:r>
              <a:rPr lang="en-IN" sz="1600" dirty="0"/>
              <a:t> (from monitoring_agent_dashboard.png) =&gt; 4-panel dashboard: revenue gain per episode, congestion per episode, pricing efficiency trend, utilization before vs after.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D7A7FA4-CEB7-279C-95C6-7EE7FB1907F7}"/>
              </a:ext>
            </a:extLst>
          </p:cNvPr>
          <p:cNvSpPr txBox="1">
            <a:spLocks/>
          </p:cNvSpPr>
          <p:nvPr/>
        </p:nvSpPr>
        <p:spPr>
          <a:xfrm>
            <a:off x="510005" y="4653136"/>
            <a:ext cx="11171985" cy="17281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b="1" dirty="0"/>
              <a:t>A4 : Data Assumptions Summary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ST-EVCDP price column is in normalised yuan/kWh (range 0.25–1.47), not directly comparable to ₹15 baseline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Occupancy values above station count are treated as data noise and clipped at utilization=1.0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ACN data covers a single site (Caltech workplace), generalisation to public charging requires caution</a:t>
            </a:r>
            <a:endParaRPr lang="en-IN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06887026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fcaeb239-e0ad-43c4-9739-4084ddd7c62f_wac_v2" id="{21E82CDE-DB0F-446A-AB1C-C548E4C4E61C}" vid="{FC4C4127-EA88-45F9-9442-09B36E6C91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{44EFAE6D-90C1-459D-B51C-5CC7EE44AF2C}0f45c1b8-b519-4737-8f12-a18148944ef7-TFfcaeb239-e0ad-43c4-9739-4084ddd7c62fe496f549_win32</Template>
  <TotalTime>958</TotalTime>
  <Words>1614</Words>
  <Application>Microsoft Office PowerPoint</Application>
  <PresentationFormat>Widescreen</PresentationFormat>
  <Paragraphs>178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Bahnschrift SemiLight</vt:lpstr>
      <vt:lpstr>Blockwork elegance</vt:lpstr>
      <vt:lpstr>Agentic AI Based Dynamic Tariff Optimization for EV Charging Networks</vt:lpstr>
      <vt:lpstr>Data Landscape &amp; Preprocessing Decisions</vt:lpstr>
      <vt:lpstr>2. EDA : Key Demand Behaviour Insights</vt:lpstr>
      <vt:lpstr>PowerPoint Presentation</vt:lpstr>
      <vt:lpstr>PowerPoint Presentation</vt:lpstr>
      <vt:lpstr>3.  Demand Prediction Agent :  Modelling &amp; Results</vt:lpstr>
      <vt:lpstr>4.  Dynamic Tariff Pricing Agent  : Logic &amp; Outcomes</vt:lpstr>
      <vt:lpstr>5.  Monitoring &amp; Learning Agent :  Feedback Loop Evaluation</vt:lpstr>
      <vt:lpstr>6.  Business, Operational &amp; Policy    Implications</vt:lpstr>
      <vt:lpstr>APPENDIX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Dinesh Sunda</dc:creator>
  <cp:lastModifiedBy>Dinesh Sunda</cp:lastModifiedBy>
  <cp:revision>3</cp:revision>
  <dcterms:created xsi:type="dcterms:W3CDTF">2026-06-06T14:18:35Z</dcterms:created>
  <dcterms:modified xsi:type="dcterms:W3CDTF">2026-06-07T06:17:09Z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